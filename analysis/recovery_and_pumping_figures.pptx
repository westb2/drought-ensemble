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19456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A1A1A"/>
                </a:solidFill>
                <a:latin typeface="Calibri"/>
              </a:rPr>
              <a:t>Drought recovery &amp; pumping response figures</a:t>
            </a:r>
          </a:p>
          <a:p>
            <a:r>
              <a:rPr sz="1800" b="0">
                <a:solidFill>
                  <a:srgbClr val="555555"/>
                </a:solidFill>
                <a:latin typeface="Calibri"/>
              </a:rPr>
              <a:t>Potomac &amp; Wolf · 219 h products ·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  <a:latin typeface="Calibri"/>
              </a:rPr>
              <a:t>Drought recovery (1 / 3 / 10 / 50-year)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Recovery: storage &amp; flow by drought length</a:t>
            </a:r>
          </a:p>
        </p:txBody>
      </p:sp>
      <p:pic>
        <p:nvPicPr>
          <p:cNvPr id="3" name="Picture 2" descr="drought_recovery_totals_and_anomal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5381144" cy="5349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3093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66666"/>
                </a:solidFill>
                <a:latin typeface="Calibri"/>
              </a:rPr>
              <a:t>5-year recovery after drought end. Baseline = continued average.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Fractional storage deficit during recovery</a:t>
            </a:r>
          </a:p>
        </p:txBody>
      </p:sp>
      <p:pic>
        <p:nvPicPr>
          <p:cNvPr id="3" name="Picture 2" descr="drought_recovery_by_length_fractional_sto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11430000" cy="419625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3093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66666"/>
                </a:solidFill>
                <a:latin typeface="Calibri"/>
              </a:rPr>
              <a:t>Fraction of initial (t=0) storage deficit remaining.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10-year drought course</a:t>
            </a:r>
          </a:p>
        </p:txBody>
      </p:sp>
      <p:pic>
        <p:nvPicPr>
          <p:cNvPr id="3" name="Picture 2" descr="ten_year_drought_streamflow_sto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8252181" cy="5349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3093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66666"/>
                </a:solidFill>
                <a:latin typeface="Calibri"/>
              </a:rPr>
              <a:t>Last 3 spinup years → drought → 5-year recovery.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50-year drought course</a:t>
            </a:r>
          </a:p>
        </p:txBody>
      </p:sp>
      <p:pic>
        <p:nvPicPr>
          <p:cNvPr id="3" name="Picture 2" descr="fifty_year_drought_streamflow_sto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8252181" cy="5349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3093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66666"/>
                </a:solidFill>
                <a:latin typeface="Calibri"/>
              </a:rPr>
              <a:t>Same layout for the 50-year member.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WTD anomaly maps (recovery)</a:t>
            </a:r>
          </a:p>
        </p:txBody>
      </p:sp>
      <p:pic>
        <p:nvPicPr>
          <p:cNvPr id="3" name="Picture 2" descr="drought_recovery_wtd_anomaly_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6939774" cy="5349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3093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66666"/>
                </a:solidFill>
                <a:latin typeface="Calibri"/>
              </a:rPr>
              <a:t>ΔWTD at recovery start, +1 yr, +5 yr. Positive = deeper / drier.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Temporary vs persistent storage deficits</a:t>
            </a:r>
          </a:p>
        </p:txBody>
      </p:sp>
      <p:pic>
        <p:nvPicPr>
          <p:cNvPr id="3" name="Picture 2" descr="drought_recovery_temp_persistent_storage_deficit_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4251540" cy="5349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3093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66666"/>
                </a:solidFill>
                <a:latin typeface="Calibri"/>
              </a:rPr>
              <a:t>Temporary = recovered in recovery year 1; persistent = remaining.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Temporary vs persistent WTD deficits</a:t>
            </a:r>
          </a:p>
        </p:txBody>
      </p:sp>
      <p:pic>
        <p:nvPicPr>
          <p:cNvPr id="3" name="Picture 2" descr="drought_recovery_temp_persistent_wtd_deficit_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4186006" cy="5349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3093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66666"/>
                </a:solidFill>
                <a:latin typeface="Calibri"/>
              </a:rPr>
              <a:t>Same split for ΔWTD.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Domain-total temporary vs persistent</a:t>
            </a:r>
          </a:p>
        </p:txBody>
      </p:sp>
      <p:pic>
        <p:nvPicPr>
          <p:cNvPr id="3" name="Picture 2" descr="drought_recovery_temp_persistent_deficit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11430000" cy="460933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3093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66666"/>
                </a:solidFill>
                <a:latin typeface="Calibri"/>
              </a:rPr>
              <a:t>Map-based domain totals (10⁶ m³).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Fast spike vs persistent (corrected)</a:t>
            </a:r>
          </a:p>
        </p:txBody>
      </p:sp>
      <p:pic>
        <p:nvPicPr>
          <p:cNvPr id="3" name="Picture 2" descr="drought_recovery_temp_persistent_deficit_bars_spi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11430000" cy="460933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3093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66666"/>
                </a:solidFill>
                <a:latin typeface="Calibri"/>
              </a:rPr>
              <a:t>Slow branch projected to t=0 to isolate the fast spike.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  <a:latin typeface="Calibri"/>
              </a:rPr>
              <a:t>Pumping analogues (3-year pumping tests)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Design note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Calibri"/>
              </a:rPr>
              <a:t>Ensemble is 40 yr average spinup + 3 yr pumping at rates 1e-7 … 1e-4 m/h (domain-average). No post-pump recovery years, so figures compare rates during pumping and split early (yr1) vs buildup (yr2–3) instead of temporary/persistent recovery.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During pumping: storage &amp; flow by rate</a:t>
            </a:r>
          </a:p>
        </p:txBody>
      </p:sp>
      <p:pic>
        <p:nvPicPr>
          <p:cNvPr id="3" name="Picture 2" descr="pumping_during_totals_and_anomal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5381144" cy="5349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3093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66666"/>
                </a:solidFill>
                <a:latin typeface="Calibri"/>
              </a:rPr>
              <a:t>t=0 at pumping onset; shaded = pumping period.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Fractional deficit growth during pumping</a:t>
            </a:r>
          </a:p>
        </p:txBody>
      </p:sp>
      <p:pic>
        <p:nvPicPr>
          <p:cNvPr id="3" name="Picture 2" descr="pumping_by_rate_fractional_sto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11430000" cy="419625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3093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66666"/>
                </a:solidFill>
                <a:latin typeface="Calibri"/>
              </a:rPr>
              <a:t>Deficit relative to end of pump year 1.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Pumping course (spinup → 3 yr pump)</a:t>
            </a:r>
          </a:p>
        </p:txBody>
      </p:sp>
      <p:pic>
        <p:nvPicPr>
          <p:cNvPr id="3" name="Picture 2" descr="pumping_course_streamflow_sto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8246745" cy="5349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3093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66666"/>
                </a:solidFill>
                <a:latin typeface="Calibri"/>
              </a:rPr>
              <a:t>Last 3 spinup years + 3 pumping years vs baseline.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WTD anomaly maps (pumping)</a:t>
            </a:r>
          </a:p>
        </p:txBody>
      </p:sp>
      <p:pic>
        <p:nvPicPr>
          <p:cNvPr id="3" name="Picture 2" descr="pumping_wtd_anomaly_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6829942" cy="5349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3093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66666"/>
                </a:solidFill>
                <a:latin typeface="Calibri"/>
              </a:rPr>
              <a:t>End spinup / end pump yr1 / end pump yr3.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Early vs buildup storage deficits</a:t>
            </a:r>
          </a:p>
        </p:txBody>
      </p:sp>
      <p:pic>
        <p:nvPicPr>
          <p:cNvPr id="3" name="Picture 2" descr="pumping_early_buildup_storage_deficit_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4059033" cy="5349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3093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66666"/>
                </a:solidFill>
                <a:latin typeface="Calibri"/>
              </a:rPr>
              <a:t>Early = end yr1 deficit; buildup = additional by end yr3.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Domain-total early vs buildup</a:t>
            </a:r>
          </a:p>
        </p:txBody>
      </p:sp>
      <p:pic>
        <p:nvPicPr>
          <p:cNvPr id="3" name="Picture 2" descr="pumping_early_buildup_deficit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11430000" cy="460933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3093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66666"/>
                </a:solidFill>
                <a:latin typeface="Calibri"/>
              </a:rPr>
              <a:t>Map-based domain totals by pumping rate.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