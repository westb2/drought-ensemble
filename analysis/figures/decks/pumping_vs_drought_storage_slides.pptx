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2865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4A2410"/>
                </a:solidFill>
                <a:latin typeface="Calibri"/>
              </a:rPr>
              <a:t>Pumping vs drought storage losses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72865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555555"/>
                </a:solidFill>
                <a:latin typeface="Calibri"/>
              </a:rPr>
              <a:t>Preliminary: depth partition &amp; mid-stress regen proxies
(no pumping recovery years yet)</a:t>
            </a:r>
          </a:p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Potomac &amp; Wolf · 3-year pumping tests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1.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8C39E"/>
                </a:solidFill>
                <a:latin typeface="Calibri"/>
              </a:rPr>
              <a:t>Why drought temporary/persistent proxies should change under pumping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Ensemble contrast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A2410"/>
                </a:solidFill>
                <a:latin typeface="Calibri"/>
              </a:rPr>
              <a:t>Droughts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A2A2A"/>
                </a:solidFill>
                <a:latin typeface="Calibri"/>
              </a:rPr>
              <a:t>•  Stress = duration (1 / 3 / 10 / 50 yr)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A2A2A"/>
                </a:solidFill>
                <a:latin typeface="Calibri"/>
              </a:rPr>
              <a:t>•  Losses begin at the water table / near surface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A2A2A"/>
                </a:solidFill>
                <a:latin typeface="Calibri"/>
              </a:rPr>
              <a:t>•  Recovery years define temporary vs persistent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A2A2A"/>
                </a:solidFill>
                <a:latin typeface="Calibri"/>
              </a:rPr>
              <a:t>•  Temporary ≈ near-surface (top 2 m); persistent ≈ deep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A2A2A"/>
                </a:solidFill>
                <a:latin typeface="Calibri"/>
              </a:rPr>
              <a:t>•  High-overland cells regenerate a near-surface skin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86868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A2410"/>
                </a:solidFill>
                <a:latin typeface="Calibri"/>
              </a:rPr>
              <a:t>Pumping (3-year tests)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2588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A2A2A"/>
                </a:solidFill>
                <a:latin typeface="Calibri"/>
              </a:rPr>
              <a:t>•  Stress = rate (1e-7 … 1e-4 m/h domain-avg)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A2A2A"/>
                </a:solidFill>
                <a:latin typeface="Calibri"/>
              </a:rPr>
              <a:t>•  Extraction at layer 2 (deep), including wet cells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A2A2A"/>
                </a:solidFill>
                <a:latin typeface="Calibri"/>
              </a:rPr>
              <a:t>•  Ends while still pumping — no recovery on disk yet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A2A2A"/>
                </a:solidFill>
                <a:latin typeface="Calibri"/>
              </a:rPr>
              <a:t>•  Proxies: early (yr1) vs buildup (yr2–3); NS rebound vs deep ratchet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A2A2A"/>
                </a:solidFill>
                <a:latin typeface="Calibri"/>
              </a:rPr>
              <a:t>•  Expect deep memory even where drought would stay temporary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Proxies used here (until recovery exists)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Near-surface vs deep deficit: split at 2 m (z≥6 vs z&lt;6), same as drought shielding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Mid-pump regen: near-surface ΔS pulses with average-year P; deep ΔS ratchets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Fast / temp proxy: mean mid-year near-surface rebound (max − year-start)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Persist-like proxy: mean deep net loss per pump year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Drought-style onset spike ≈ 0 under pumping — deficit grows from ~0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See pumping_shallow_deep_proxies_summary.md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2. Drought reminder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8C39E"/>
                </a:solidFill>
                <a:latin typeface="Calibri"/>
              </a:rPr>
              <a:t>Temporary ≈ near-surface regenerating skin; persistent ≈ deep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Drought: temporary ≈ near-surface; persistent ≈ deep</a:t>
            </a:r>
          </a:p>
        </p:txBody>
      </p:sp>
      <p:pic>
        <p:nvPicPr>
          <p:cNvPr id="3" name="Picture 2" descr="shallow_deep_temp_persist_par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33" y="777240"/>
            <a:ext cx="1145862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Drought: mid-stress near-surface regenerates, deep ratchets</a:t>
            </a:r>
          </a:p>
        </p:txBody>
      </p:sp>
      <p:pic>
        <p:nvPicPr>
          <p:cNvPr id="3" name="Picture 2" descr="shallow_deep_mid_drought_re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845" y="777240"/>
            <a:ext cx="904000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Drought year pulse: storage tracks precip only near the surface</a:t>
            </a:r>
          </a:p>
        </p:txBody>
      </p:sp>
      <p:pic>
        <p:nvPicPr>
          <p:cNvPr id="3" name="Picture 2" descr="shallow_deep_mid_drought_year_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933" y="777240"/>
            <a:ext cx="1004182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3. Pumping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8C39E"/>
                </a:solidFill>
                <a:latin typeface="Calibri"/>
              </a:rPr>
              <a:t>Rates during 3-year pumping (early vs buildup)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During pumping: storage &amp; flow by rate</a:t>
            </a:r>
          </a:p>
        </p:txBody>
      </p:sp>
      <p:pic>
        <p:nvPicPr>
          <p:cNvPr id="3" name="Picture 2" descr="pumping_during_totals_and_anoma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308" y="777240"/>
            <a:ext cx="579507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Pumping course (spinup → 3 yr pump)</a:t>
            </a:r>
          </a:p>
        </p:txBody>
      </p:sp>
      <p:pic>
        <p:nvPicPr>
          <p:cNvPr id="3" name="Picture 2" descr="pumping_course_streamflow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292" y="777240"/>
            <a:ext cx="888111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Early (yr1) vs buildup (yr2–3) storage deficits</a:t>
            </a:r>
          </a:p>
        </p:txBody>
      </p:sp>
      <p:pic>
        <p:nvPicPr>
          <p:cNvPr id="3" name="Picture 2" descr="pumping_early_buildup_deficit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46215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Early vs buildup storage deficit maps</a:t>
            </a:r>
          </a:p>
        </p:txBody>
      </p:sp>
      <p:pic>
        <p:nvPicPr>
          <p:cNvPr id="3" name="Picture 2" descr="pumping_early_buildup_storage_deficit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214" y="777240"/>
            <a:ext cx="437126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WTD anomaly maps through pumping</a:t>
            </a:r>
          </a:p>
        </p:txBody>
      </p:sp>
      <p:pic>
        <p:nvPicPr>
          <p:cNvPr id="3" name="Picture 2" descr="pumping_wtd_anomaly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186" y="777240"/>
            <a:ext cx="735532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4. Depth contrast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8C39E"/>
                </a:solidFill>
                <a:latin typeface="Calibri"/>
              </a:rPr>
              <a:t>Under pumping, end-of-stress deficit is almost all deep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Pumping: end yr1 / yr3 deficit near-surface vs deep</a:t>
            </a:r>
          </a:p>
        </p:txBody>
      </p:sp>
      <p:pic>
        <p:nvPicPr>
          <p:cNvPr id="3" name="Picture 2" descr="pumping_shallow_deep_end_deficit_par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561724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Pumping spatial end-yr3 (1e-5): deep dominates the map</a:t>
            </a:r>
          </a:p>
        </p:txBody>
      </p:sp>
      <p:pic>
        <p:nvPicPr>
          <p:cNvPr id="3" name="Picture 2" descr="pumping_shallow_deep_spatial_end_yr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600" y="777240"/>
            <a:ext cx="965849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End-of-pump % of deficit in deep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Potomac: 80→91% (1e-7) … 100% (1e-4) by end of year 3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Wolf: 71→86% (1e-7) … 99% (1e-4) by end of year 3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At ≥1e-5, both domains are 97–100% deep by year 3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Contrast drought temporary volume: ~80–100% near-surface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Layer-2 extraction writes memory deep even in high water-availability cells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5. Mid-stress regen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8C39E"/>
                </a:solidFill>
                <a:latin typeface="Calibri"/>
              </a:rPr>
              <a:t>Near-surface still pulses — but it is a thin skin beside the deep ratchet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Mid-pump: near-surface regenerates, deep ratchets (by rate)</a:t>
            </a:r>
          </a:p>
        </p:txBody>
      </p:sp>
      <p:pic>
        <p:nvPicPr>
          <p:cNvPr id="3" name="Picture 2" descr="pumping_shallow_deep_mid_pump_re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845" y="777240"/>
            <a:ext cx="904000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One pump year: NS tracks P; deep has no pulse response</a:t>
            </a:r>
          </a:p>
        </p:txBody>
      </p:sp>
      <p:pic>
        <p:nvPicPr>
          <p:cNvPr id="3" name="Picture 2" descr="pumping_shallow_deep_mid_pump_year_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277" y="777240"/>
            <a:ext cx="813313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Fast proxy vs persist-like: NS rebound ≪ deep net loss / yr</a:t>
            </a:r>
          </a:p>
        </p:txBody>
      </p:sp>
      <p:pic>
        <p:nvPicPr>
          <p:cNvPr id="3" name="Picture 2" descr="pumping_fast_regen_vs_deep_draw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550294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Mid-pump wet-window ΔS (1e-5 m/h)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Potomac: near-surface +0.4×10⁶ m³ vs deep −7.1×10⁶ m³ (ρ(P,ns)=0.62, ρ(P,deep)≈0)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Wolf: near-surface +0.3×10⁶ m³ vs deep −2.7×10⁶ m³ (ρ(P,ns)=0.28, ρ(P,deep)≈0)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Potomac mean NS mid-year rebound 5.5 vs deep net loss 276 ×10⁶ m³/yr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Wolf mean NS mid-year rebound 4.2 vs deep net loss 103 ×10⁶ m³/yr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Same qualitative split as drought — different volume balance under deep extraction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6. Streamflow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8C39E"/>
                </a:solidFill>
                <a:latin typeface="Calibri"/>
              </a:rPr>
              <a:t>Outlet Q vs baseline — does deep pumping couple to flow?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Contrast with drought 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50-yr drought: deep storage grew for decades while outlet Q stepped down then plateaued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Here precip forcing stays average-year — any Q drop is capture / storage coupling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Ask: does mean Q keep falling as ΔS builds (yr1→yr3), or stay flat?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Caveat: outlet p10≈0 on baseline — classical baseflow ratios still undefined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See pumping_streamflow_impact_summary.md · persistent_storage_vs_streamflow_50yr.md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Outlet Q / baseline and ΔQ during pumping</a:t>
            </a:r>
          </a:p>
        </p:txBody>
      </p:sp>
      <p:pic>
        <p:nvPicPr>
          <p:cNvPr id="3" name="Picture 2" descr="pumping_streamflow_q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365" y="777240"/>
            <a:ext cx="8886964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Mean Q ratio declines across pump years (not a mid-drought plateau)</a:t>
            </a:r>
          </a:p>
        </p:txBody>
      </p:sp>
      <p:pic>
        <p:nvPicPr>
          <p:cNvPr id="3" name="Picture 2" descr="pumping_streamflow_q_ratio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462335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Year 1 vs year 3: mean / p50 / p90 Q ratios by rate</a:t>
            </a:r>
          </a:p>
        </p:txBody>
      </p:sp>
      <p:pic>
        <p:nvPicPr>
          <p:cNvPr id="3" name="Picture 2" descr="pumping_streamflow_q_ratio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494" y="777240"/>
            <a:ext cx="934270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ΔQ vs ΔS: pulsed flow hits while storage ratchets down</a:t>
            </a:r>
          </a:p>
        </p:txBody>
      </p:sp>
      <p:pic>
        <p:nvPicPr>
          <p:cNvPr id="3" name="Picture 2" descr="pumping_streamflow_dq_vs_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484998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Outlet Q / baseline (219 h mean, during pumping)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Low rates (1e-7): Q ≈ baseline in both domains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Potomac 1e-5: yr1=0.97 → yr3=0.80; 1e-4 collapses to yr3=0.23 (p50≈0)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Wolf 1e-5: yr1=0.98 → yr3=0.91; 1e-4 → yr3=0.76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Unlike mid-drought, mean Q keeps falling as deep ΔS grows — capture couples storage to flow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219 h ratios overweight dry windows; annualized (yearly volume) is milder — next slides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Annualized Q through pumping + 10-yr recovery</a:t>
            </a:r>
          </a:p>
        </p:txBody>
      </p:sp>
      <p:pic>
        <p:nvPicPr>
          <p:cNvPr id="3" name="Picture 2" descr="pumping_annualized_q_co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365" y="777240"/>
            <a:ext cx="8886964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Annualized Q / baseline, origin at recovery start</a:t>
            </a:r>
          </a:p>
        </p:txBody>
      </p:sp>
      <p:pic>
        <p:nvPicPr>
          <p:cNvPr id="3" name="Picture 2" descr="pumping_annualized_q_ratio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484998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Annualized Q / baseline at pump and recovery milestones</a:t>
            </a:r>
          </a:p>
        </p:txBody>
      </p:sp>
      <p:pic>
        <p:nvPicPr>
          <p:cNvPr id="3" name="Picture 2" descr="pumping_annualized_q_milest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484998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Annualized Q / baseline (yearly volume)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Potomac 1e-5: pump 0.99→0.89; rec yr1=0.86 then 0.92 / 0.95 at yr5 / yr10 — slow partial rebound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Potomac 1e-4: pump yr3=0.54; rec yr1–yr10 stays ~0.49 — no Q recovery in 10 years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Wolf 1e-5: 0.99→0.98 then back to 0.99 by yr10; 1e-4 residual ~0.94 through recovery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Q nadir is rec yr1, not pump-end — capture keeps biting after wells shut off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Wolf annualized Q is much more buffered than Potomac at the same domain-avg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See pumping_annualized_q_summary.md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7. No drought-style temporary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8C39E"/>
                </a:solidFill>
                <a:latin typeface="Calibri"/>
              </a:rPr>
              <a:t>Same 3-year stress; temporary = recovered in recovery year 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Temporary vs persistent volume, and temporary fraction</a:t>
            </a:r>
          </a:p>
        </p:txBody>
      </p:sp>
      <p:pic>
        <p:nvPicPr>
          <p:cNvPr id="3" name="Picture 2" descr="pumping_vs_drought_temp_persist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901" y="777240"/>
            <a:ext cx="877989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Fraction of end-stress deficit remaining in recovery</a:t>
            </a:r>
          </a:p>
        </p:txBody>
      </p:sp>
      <p:pic>
        <p:nvPicPr>
          <p:cNvPr id="3" name="Picture 2" descr="pumping_vs_drought_fractional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484998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ΔS through recovery: drought rebounds in year 1; pumping does not</a:t>
            </a:r>
          </a:p>
        </p:txBody>
      </p:sp>
      <p:pic>
        <p:nvPicPr>
          <p:cNvPr id="3" name="Picture 2" descr="pumping_vs_drought_ds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48499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Where the deficit sits: drought near-surface temporary vs pumping deep persistent</a:t>
            </a:r>
          </a:p>
        </p:txBody>
      </p:sp>
      <p:pic>
        <p:nvPicPr>
          <p:cNvPr id="3" name="Picture 2" descr="pumping_vs_drought_depth_par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507662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Pumping deficits are not drought deficits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Drought has a large year-1 temporary limb (Wolf f_temp=0.82; Potomac 0.59)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Pumping 1e-5 f_temp=0.12 in both domains — little of the loss comes back in year 1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Drought deficit drops in recovery yr1 then plateaus; pumping stays near the end-stress deficit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Drought temporary mass is the top 2 m (esp. Wolf); pumping leftover is deep (layer-2 extraction)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Higher rates make this worse: 1e-4 leaves f_temp≈0.05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See pumping_vs_drought_deficits_summary.md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Persistent mass vs overland rank: drought concentrates, pumping does not</a:t>
            </a:r>
          </a:p>
        </p:txBody>
      </p:sp>
      <p:pic>
        <p:nvPicPr>
          <p:cNvPr id="3" name="Picture 2" descr="pumping_drainage_deficit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507662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Pumping 1e-5: mean persist vs log overland and vs stream distance</a:t>
            </a:r>
          </a:p>
        </p:txBody>
      </p:sp>
      <p:pic>
        <p:nvPicPr>
          <p:cNvPr id="3" name="Picture 2" descr="pumping_drainage_threshold_b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340" y="777240"/>
            <a:ext cx="878901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Mean persist vs log overland, scaled by domain mean</a:t>
            </a:r>
          </a:p>
        </p:txBody>
      </p:sp>
      <p:pic>
        <p:nvPicPr>
          <p:cNvPr id="3" name="Picture 2" descr="pumping_vs_drought_mean_persist_overl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496330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Overland no longer locates the persistent mass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Drought: lowest-flow 20% of cells hold 60% (Potomac) / 40% (Wolf) of persist mass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Pumping 1e-5: those same cells hold 23% / 29% — near uniform (20%)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Potomac pumping persist even leans slightly toward higher-flow cells (ρ=+0.10)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Wolf keeps a weak low-flow slope, but the mass is not stacked in dry uplands the way drought is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Layer-2 extraction writes memory off the overland ranking that organizes drought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See pumping_overland_persist_summary.md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8.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8C39E"/>
                </a:solidFill>
                <a:latin typeface="Calibri"/>
              </a:rPr>
              <a:t>What differs — storage type, depth, and Q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Preliminary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Pumping has no drought-style temporary pool: year-1 recovery is a thin sliver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Pumping persist is not the drought overland pattern: near-uniform in flow rank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Losses sit deep (layer 2) even in cells that would pay drought with a near-surface skin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Unlike drought, outlet Q declines as deep storage builds — capture couples S to Q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After shutoff: Potomac 1e-5 slowly rebounds; 1e-4 Q stays ~half of baseline for 10 yr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Wolf annualized Q is weakly affected; storage memory is still mostly persistent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Scripts: pumping_vs_drought_deficits.py · pumping_annualized_q.py · pumping_shallow_deep_proxies.py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