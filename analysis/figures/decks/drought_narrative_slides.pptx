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4A2410"/>
                </a:solidFill>
                <a:latin typeface="Calibri"/>
              </a:rPr>
              <a:t>Drought storage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Calibri"/>
              </a:rPr>
              <a:t>Temporary vs persistent deficits · overland connectivity · local Budyko · near-surface shielding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Potomac &amp; Wolf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What temporary vs persistent looks like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Definition: temporary vs persistent recovery</a:t>
            </a:r>
          </a:p>
        </p:txBody>
      </p:sp>
      <p:pic>
        <p:nvPicPr>
          <p:cNvPr id="3" name="Picture 2" descr="drought_recovery_temp_persist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405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 course (10-year)</a:t>
            </a:r>
          </a:p>
        </p:txBody>
      </p:sp>
      <p:pic>
        <p:nvPicPr>
          <p:cNvPr id="3" name="Picture 2" descr="ten_year_drought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65" y="777240"/>
            <a:ext cx="888696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Drought course (50-year)</a:t>
            </a:r>
          </a:p>
        </p:txBody>
      </p:sp>
      <p:pic>
        <p:nvPicPr>
          <p:cNvPr id="3" name="Picture 2" descr="fifty_year_drought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65" y="777240"/>
            <a:ext cx="888696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Recovery by drought length</a:t>
            </a:r>
          </a:p>
        </p:txBody>
      </p:sp>
      <p:pic>
        <p:nvPicPr>
          <p:cNvPr id="3" name="Picture 2" descr="drought_recovery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308" y="777240"/>
            <a:ext cx="579507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Fraction of storage deficit remaining</a:t>
            </a:r>
          </a:p>
        </p:txBody>
      </p:sp>
      <p:pic>
        <p:nvPicPr>
          <p:cNvPr id="3" name="Picture 2" descr="drought_recovery_by_length_fractional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207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saturates; persistent grows</a:t>
            </a:r>
          </a:p>
        </p:txBody>
      </p:sp>
      <p:pic>
        <p:nvPicPr>
          <p:cNvPr id="3" name="Picture 2" descr="drought_recovery_temp_persistent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621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vs persistent storage — Potomac</a:t>
            </a:r>
          </a:p>
        </p:txBody>
      </p:sp>
      <p:pic>
        <p:nvPicPr>
          <p:cNvPr id="3" name="Picture 2" descr="drought_recovery_temp_persistent_storage_deficit_maps_potoma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426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vs persistent storage — Wolf</a:t>
            </a:r>
          </a:p>
        </p:txBody>
      </p:sp>
      <p:pic>
        <p:nvPicPr>
          <p:cNvPr id="3" name="Picture 2" descr="drought_recovery_temp_persistent_storage_deficit_maps_wol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001" y="777240"/>
            <a:ext cx="742569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WTD anomaly through recovery — Potomac</a:t>
            </a:r>
          </a:p>
        </p:txBody>
      </p:sp>
      <p:pic>
        <p:nvPicPr>
          <p:cNvPr id="3" name="Picture 2" descr="drought_recovery_wtd_anomaly_maps_potoma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37997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WTD anomaly through recovery — Wolf</a:t>
            </a:r>
          </a:p>
        </p:txBody>
      </p:sp>
      <p:pic>
        <p:nvPicPr>
          <p:cNvPr id="3" name="Picture 2" descr="drought_recovery_wtd_anomaly_maps_wol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14" y="777240"/>
            <a:ext cx="1052626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2. Overland flow → deficit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Low-overland cells hold the persistent mass; distance-to-stream is weaker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/ persistent deficits vs covariates</a:t>
            </a:r>
          </a:p>
        </p:txBody>
      </p:sp>
      <p:pic>
        <p:nvPicPr>
          <p:cNvPr id="3" name="Picture 2" descr="drought_recovery_deficit_covariate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556" y="777240"/>
            <a:ext cx="914258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Persistent mass concentrates in low-overland cells</a:t>
            </a:r>
          </a:p>
        </p:txBody>
      </p:sp>
      <p:pic>
        <p:nvPicPr>
          <p:cNvPr id="3" name="Picture 2" descr="drought_recovery_drainage_deficit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7843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log overland flow vs distance to stream</a:t>
            </a:r>
          </a:p>
        </p:txBody>
      </p:sp>
      <p:pic>
        <p:nvPicPr>
          <p:cNvPr id="3" name="Picture 2" descr="drought_recovery_drainage_threshold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11" y="777240"/>
            <a:ext cx="863527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Enrichment of top-20% persist below flow thresholds</a:t>
            </a:r>
          </a:p>
        </p:txBody>
      </p:sp>
      <p:pic>
        <p:nvPicPr>
          <p:cNvPr id="3" name="Picture 2" descr="drought_recovery_drainage_threshold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6651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Drainage-position heuristics vs temp/persist</a:t>
            </a:r>
          </a:p>
        </p:txBody>
      </p:sp>
      <p:pic>
        <p:nvPicPr>
          <p:cNvPr id="3" name="Picture 2" descr="drought_recovery_drainage_position_heu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7654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Best single-factor maps (WTD, K, recharge, porosity)</a:t>
            </a:r>
          </a:p>
        </p:txBody>
      </p:sp>
      <p:pic>
        <p:nvPicPr>
          <p:cNvPr id="3" name="Picture 2" descr="drought_recovery_best_factors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4483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Best single-factor hexbins</a:t>
            </a:r>
          </a:p>
        </p:txBody>
      </p:sp>
      <p:pic>
        <p:nvPicPr>
          <p:cNvPr id="3" name="Picture 2" descr="drought_recovery_best_factors_hex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467" y="777240"/>
            <a:ext cx="50627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3. Local Budyko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Domain climate sets the regime; within-basin ranking is overland / WTD, not 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Aridity is flat; overland participation varies</a:t>
            </a:r>
          </a:p>
        </p:txBody>
      </p:sp>
      <p:pic>
        <p:nvPicPr>
          <p:cNvPr id="3" name="Picture 2" descr="budyko_phi_vs_overland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177" y="777240"/>
            <a:ext cx="77853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Maps: aridity, overland, temporary fraction</a:t>
            </a:r>
          </a:p>
        </p:txBody>
      </p:sp>
      <p:pic>
        <p:nvPicPr>
          <p:cNvPr id="3" name="Picture 2" descr="budyko_maps_phi_overland_f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34" y="777240"/>
            <a:ext cx="1024242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f_temp vs overland, WTD, and stream distance</a:t>
            </a:r>
          </a:p>
        </p:txBody>
      </p:sp>
      <p:pic>
        <p:nvPicPr>
          <p:cNvPr id="3" name="Picture 2" descr="budyko_hexbin_ftemp_vs_predi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6136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Local Budyko space colored by temporary fraction</a:t>
            </a:r>
          </a:p>
        </p:txBody>
      </p:sp>
      <p:pic>
        <p:nvPicPr>
          <p:cNvPr id="3" name="Picture 2" descr="budyko_space_f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50534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fraction by landscape stratum</a:t>
            </a:r>
          </a:p>
        </p:txBody>
      </p:sp>
      <p:pic>
        <p:nvPicPr>
          <p:cNvPr id="3" name="Picture 2" descr="budyko_ftemp_by_stra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60175" cy="48499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 / persist volume by stratum</a:t>
            </a:r>
          </a:p>
        </p:txBody>
      </p:sp>
      <p:pic>
        <p:nvPicPr>
          <p:cNvPr id="3" name="Picture 2" descr="budyko_stratified_temp_persis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839" y="777240"/>
            <a:ext cx="844601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Within-domain Spearman (overland &amp; WTD vs f_temp)</a:t>
            </a:r>
          </a:p>
        </p:txBody>
      </p:sp>
      <p:pic>
        <p:nvPicPr>
          <p:cNvPr id="3" name="Picture 2" descr="budyko_spearman_f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79" y="777240"/>
            <a:ext cx="926113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4. Mechanism: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C39E"/>
                </a:solidFill>
                <a:latin typeface="Calibri"/>
              </a:rPr>
              <a:t>Near-surface regenerates; deep losses persist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Temporary ≈ near-surface; persistent ≈ deep</a:t>
            </a:r>
          </a:p>
        </p:txBody>
      </p:sp>
      <p:pic>
        <p:nvPicPr>
          <p:cNvPr id="3" name="Picture 2" descr="shallow_deep_temp_persis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3" y="777240"/>
            <a:ext cx="1145862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Recovery fraction by depth (10-year)</a:t>
            </a:r>
          </a:p>
        </p:txBody>
      </p:sp>
      <p:pic>
        <p:nvPicPr>
          <p:cNvPr id="3" name="Picture 2" descr="shallow_deep_layer_recovery_profile_10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17" y="777240"/>
            <a:ext cx="99162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Spatial: near-surface fraction ≈ temporary fraction</a:t>
            </a:r>
          </a:p>
        </p:txBody>
      </p:sp>
      <p:pic>
        <p:nvPicPr>
          <p:cNvPr id="3" name="Picture 2" descr="shallow_deep_spatial_10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06" y="777240"/>
            <a:ext cx="976268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Mid-drought: near-surface regenerates, deep ratchets down</a:t>
            </a:r>
          </a:p>
        </p:txBody>
      </p:sp>
      <p:pic>
        <p:nvPicPr>
          <p:cNvPr id="3" name="Picture 2" descr="shallow_deep_mid_drought_r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45" y="777240"/>
            <a:ext cx="90400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Same series through recovery (near-surface rebounds; deep lags)</a:t>
            </a:r>
          </a:p>
        </p:txBody>
      </p:sp>
      <p:pic>
        <p:nvPicPr>
          <p:cNvPr id="3" name="Picture 2" descr="shallow_deep_mid_drought_regen_with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45" y="777240"/>
            <a:ext cx="904000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A2410"/>
                </a:solidFill>
                <a:latin typeface="Calibri"/>
              </a:rPr>
              <a:t>One drought year: storage tracks precip only near the surface</a:t>
            </a:r>
          </a:p>
        </p:txBody>
      </p:sp>
      <p:pic>
        <p:nvPicPr>
          <p:cNvPr id="3" name="Picture 2" descr="shallow_deep_mid_drought_year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33" y="777240"/>
            <a:ext cx="10041828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