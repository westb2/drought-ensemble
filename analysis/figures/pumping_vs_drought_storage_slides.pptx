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A2410"/>
                </a:solidFill>
                <a:latin typeface="Calibri"/>
              </a:rPr>
              <a:t>Pumping vs drought storage losses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Preliminary: depth partition &amp; mid-stress regen proxies
(no pumping recovery years yet)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Potomac &amp; Wolf · 3-year pumping tests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1.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Why drought temporary/persistent proxies should change under pumping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Ensemble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A2410"/>
                </a:solidFill>
                <a:latin typeface="Calibri"/>
              </a:rPr>
              <a:t>Droughts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Stress = duration (1 / 3 / 10 / 50 yr)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Losses begin at the water table / near surface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Recovery years define temporary vs persistent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Temporary ≈ near-surface (top 2 m); persistent ≈ deep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High-overland cells regenerate a near-surface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8686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A2410"/>
                </a:solidFill>
                <a:latin typeface="Calibri"/>
              </a:rPr>
              <a:t>Pumping (3-year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Stress = rate (1e-7 … 1e-4 m/h domain-avg)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Extraction at layer 2 (deep), including wet cells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Ends while still pumping — no recovery on disk yet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Proxies: early (yr1) vs buildup (yr2–3); NS rebound vs deep ratchet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A2A2A"/>
                </a:solidFill>
                <a:latin typeface="Calibri"/>
              </a:rPr>
              <a:t>•  Expect deep memory even where drought would stay temporary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Proxies used here (until recovery exists)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Near-surface vs deep deficit: split at 2 m (z≥6 vs z&lt;6), same as drought shielding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Mid-pump regen: near-surface ΔS pulses with average-year P; deep ΔS ratchets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Fast / temp proxy: mean mid-year near-surface rebound (max − year-start)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Persist-like proxy: mean deep net loss per pump year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Drought-style onset spike ≈ 0 under pumping — deficit grows from ~0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See pumping_shallow_deep_proxies_summary.md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2. Drought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Temporary ≈ near-surface regenerating skin; persistent ≈ deep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Drought: temporary ≈ near-surface; persistent ≈ deep</a:t>
            </a:r>
          </a:p>
        </p:txBody>
      </p:sp>
      <p:pic>
        <p:nvPicPr>
          <p:cNvPr id="3" name="Picture 2" descr="shallow_deep_temp_persist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33" y="777240"/>
            <a:ext cx="1145862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Drought: mid-stress near-surface regenerates, deep ratchets</a:t>
            </a:r>
          </a:p>
        </p:txBody>
      </p:sp>
      <p:pic>
        <p:nvPicPr>
          <p:cNvPr id="3" name="Picture 2" descr="shallow_deep_mid_drought_r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45" y="777240"/>
            <a:ext cx="90400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 year pulse: storage tracks precip only near the surface</a:t>
            </a:r>
          </a:p>
        </p:txBody>
      </p:sp>
      <p:pic>
        <p:nvPicPr>
          <p:cNvPr id="3" name="Picture 2" descr="shallow_deep_mid_drought_year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33" y="777240"/>
            <a:ext cx="1004182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3. Pumping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Rates during 3-year pumping (early vs buildup)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During pumping: storage &amp; flow by rate</a:t>
            </a:r>
          </a:p>
        </p:txBody>
      </p:sp>
      <p:pic>
        <p:nvPicPr>
          <p:cNvPr id="3" name="Picture 2" descr="pumping_during_totals_and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308" y="777240"/>
            <a:ext cx="579507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 course (spinup → 3 yr pump)</a:t>
            </a:r>
          </a:p>
        </p:txBody>
      </p:sp>
      <p:pic>
        <p:nvPicPr>
          <p:cNvPr id="3" name="Picture 2" descr="pumping_course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292" y="777240"/>
            <a:ext cx="888111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Early (yr1) vs buildup (yr2–3) storage deficits</a:t>
            </a:r>
          </a:p>
        </p:txBody>
      </p:sp>
      <p:pic>
        <p:nvPicPr>
          <p:cNvPr id="3" name="Picture 2" descr="pumping_early_buildup_defici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621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Early vs buildup storage deficit maps</a:t>
            </a:r>
          </a:p>
        </p:txBody>
      </p:sp>
      <p:pic>
        <p:nvPicPr>
          <p:cNvPr id="3" name="Picture 2" descr="pumping_early_buildup_storage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214" y="777240"/>
            <a:ext cx="437126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WTD anomaly maps through pumping</a:t>
            </a:r>
          </a:p>
        </p:txBody>
      </p:sp>
      <p:pic>
        <p:nvPicPr>
          <p:cNvPr id="3" name="Picture 2" descr="pumping_wtd_anomal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186" y="777240"/>
            <a:ext cx="735532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4. Depth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Under pumping, end-of-stress deficit is almost all deep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Pumping: end yr1 / yr3 deficit near-surface vs deep</a:t>
            </a:r>
          </a:p>
        </p:txBody>
      </p:sp>
      <p:pic>
        <p:nvPicPr>
          <p:cNvPr id="3" name="Picture 2" descr="pumping_shallow_deep_end_deficit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6172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Pumping spatial end-yr3 (1e-5): deep dominates the map</a:t>
            </a:r>
          </a:p>
        </p:txBody>
      </p:sp>
      <p:pic>
        <p:nvPicPr>
          <p:cNvPr id="3" name="Picture 2" descr="pumping_shallow_deep_spatial_end_y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00" y="777240"/>
            <a:ext cx="965849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End-of-pump % of deficit in deep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Potomac: 80→91% (1e-7) … 100% (1e-4) by end of year 3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Wolf: 71→86% (1e-7) … 99% (1e-4) by end of year 3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At ≥1e-5, both domains are 97–100% deep by year 3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Contrast drought temporary volume: ~80–100% near-surface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Layer-2 extraction writes memory deep even in high water-availability cells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5. Mid-stress regen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Near-surface still pulses — but it is a thin skin beside the deep ratchet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Mid-pump: near-surface regenerates, deep ratchets (by rate)</a:t>
            </a:r>
          </a:p>
        </p:txBody>
      </p:sp>
      <p:pic>
        <p:nvPicPr>
          <p:cNvPr id="3" name="Picture 2" descr="pumping_shallow_deep_mid_pump_r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45" y="777240"/>
            <a:ext cx="90400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One pump year: NS tracks P; deep has no pulse response</a:t>
            </a:r>
          </a:p>
        </p:txBody>
      </p:sp>
      <p:pic>
        <p:nvPicPr>
          <p:cNvPr id="3" name="Picture 2" descr="pumping_shallow_deep_mid_pump_year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277" y="777240"/>
            <a:ext cx="813313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Fast proxy vs persist-like: NS rebound ≪ deep net loss / yr</a:t>
            </a:r>
          </a:p>
        </p:txBody>
      </p:sp>
      <p:pic>
        <p:nvPicPr>
          <p:cNvPr id="3" name="Picture 2" descr="pumping_fast_regen_vs_deep_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5029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Mid-pump wet-window ΔS (1e-5 m/h)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Potomac: near-surface +0.4×10⁶ m³ vs deep −7.1×10⁶ m³ (ρ(P,ns)=0.62, ρ(P,deep)≈0)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Wolf: near-surface +0.3×10⁶ m³ vs deep −2.7×10⁶ m³ (ρ(P,ns)=0.28, ρ(P,deep)≈0)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 mean NS mid-year rebound 5.5 vs deep net loss 276 ×10⁶ m³/yr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mean NS mid-year rebound 4.2 vs deep net loss 103 ×10⁶ m³/yr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Same qualitative split as drought — different volume balance under deep extraction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6. Streamflow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Outlet Q vs baseline — does deep pumping couple to flow?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Contrast with drought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50-yr drought: deep storage grew for decades while outlet Q stepped down then plateaued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Here precip forcing stays average-year — any Q drop is capture / storage coupling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Ask: does mean Q keep falling as ΔS builds (yr1→yr3), or stay flat?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Caveat: outlet p10≈0 on baseline — classical baseflow ratios still undefined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See pumping_streamflow_impact_summary.md · persistent_storage_vs_streamflow_50yr.md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Outlet Q / baseline and ΔQ during pumping</a:t>
            </a:r>
          </a:p>
        </p:txBody>
      </p:sp>
      <p:pic>
        <p:nvPicPr>
          <p:cNvPr id="3" name="Picture 2" descr="pumping_streamflow_q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65" y="777240"/>
            <a:ext cx="888696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Mean Q ratio declines across pump years (not a mid-drought plateau)</a:t>
            </a:r>
          </a:p>
        </p:txBody>
      </p:sp>
      <p:pic>
        <p:nvPicPr>
          <p:cNvPr id="3" name="Picture 2" descr="pumping_streamflow_q_ratio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62335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Year 1 vs year 3: mean / p50 / p90 Q ratios by rate</a:t>
            </a:r>
          </a:p>
        </p:txBody>
      </p:sp>
      <p:pic>
        <p:nvPicPr>
          <p:cNvPr id="3" name="Picture 2" descr="pumping_streamflow_q_ratio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94" y="777240"/>
            <a:ext cx="934270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ΔQ vs ΔS: pulsed flow hits while storage ratchets down</a:t>
            </a:r>
          </a:p>
        </p:txBody>
      </p:sp>
      <p:pic>
        <p:nvPicPr>
          <p:cNvPr id="3" name="Picture 2" descr="pumping_streamflow_dq_vs_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8499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Outlet Q / baseline (mean)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Low rates (1e-7): Q ≈ baseline in both domains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Potomac 1e-5: yr1=0.97 → yr3=0.80; 1e-4 collapses to yr3=0.23 (p50≈0)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Wolf 1e-5: yr1=0.98 → yr3=0.91; 1e-4 → yr3=0.76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Unlike mid-drought, mean Q keeps falling as deep ΔS grows — capture couples storage to flow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Suppression is strongest on the body/high flows (p90 still near 1 at 1e-5); peaks are hit harder at 1e-4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7.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What differs — and what to check with recovery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Preliminary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Pumping storage losses sit deep (≈86–100% by yr3) — opposite of drought temporary losses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Near-surface still regenerates on precip pulses; that pool is tiny vs the deep ratchet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Unlike drought, outlet Q keeps declining as deep storage builds (esp. Potomac ≥1e-5)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Shielding / Q–storage decoupling weakens when extraction is at layer 2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A2A2A"/>
                </a:solidFill>
                <a:latin typeface="Calibri"/>
              </a:rPr>
              <a:t>•  Next: recovery years (and layer-4 tests) for true temporary/persistent and Q rebound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Scripts: pumping_streamflow_impact.py · pumping_shallow_deep_proxies.py · redo_pumping_recovery_analogues.py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